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2ECC71"/>
                </a:solidFill>
                <a:latin typeface="Arial"/>
              </a:defRPr>
            </a:pPr>
            <a:r>
              <a:t>AgriBridge</a:t>
            </a:r>
          </a:p>
          <a:p>
            <a:pPr>
              <a:spcBef>
                <a:spcPts val="400"/>
              </a:spcBef>
              <a:defRPr sz="1400">
                <a:solidFill>
                  <a:srgbClr val="F1C40F"/>
                </a:solidFill>
                <a:latin typeface="Arial"/>
              </a:defRPr>
            </a:pPr>
            <a:r>
              <a:t>Autonomous Farm-to-Field Advisory &amp; Action Orchestration Platform</a:t>
            </a:r>
            <a:br/>
            <a:r>
              <a:t>Smart Horizon 2026 | Problem Statement: SH-AGR-001 (Agriculture &amp; Rural Development)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728655" cy="4297680"/>
          </a:xfrm>
          <a:prstGeom prst="roundRect">
            <a:avLst/>
          </a:prstGeom>
          <a:solidFill>
            <a:srgbClr val="183024"/>
          </a:solidFill>
          <a:ln w="19050">
            <a:solidFill>
              <a:srgbClr val="275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1018001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Empowering 140M+ Indian Smallholder Farmers with Grounded Autonomous Advisory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Multi-Signal Deterministic Safety Engine &amp; Closed-Loop Field Execution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14-Language Conversational AI Companion (Kisan Saathi) with Zero-Hallucination Guardrails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Direct FPO &amp; Buyer Marketplace with Real-Time Agmarknet Mandi Pricing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1. Problem Landscape: The Indian Agritech Dilemma</a:t>
            </a:r>
          </a:p>
          <a:p>
            <a:pPr>
              <a:spcBef>
                <a:spcPts val="400"/>
              </a:spcBef>
              <a:defRPr sz="1400">
                <a:solidFill>
                  <a:srgbClr val="B4C3B9"/>
                </a:solidFill>
                <a:latin typeface="Arial"/>
              </a:defRPr>
            </a:pPr>
            <a:r>
              <a:t>Why current digital agriculture solutions fail at the grassroots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728655" cy="4297680"/>
          </a:xfrm>
          <a:prstGeom prst="roundRect">
            <a:avLst/>
          </a:prstGeom>
          <a:solidFill>
            <a:srgbClr val="183024"/>
          </a:solidFill>
          <a:ln w="19050">
            <a:solidFill>
              <a:srgbClr val="275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1018001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Advisory Fragmentation: Farmers rely on disconnected apps for weather, disease, and mandi prices.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Unverified AI Hallucinations: Generic chatbots recommend inappropriate dosages leading to crop loss.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Weather Vulnerability: Over 40% of applied agrochemicals wash away due to uncoordinated rainfall events.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Middleman Exploitation: Asymmetric price information costs smallholders 25-35% of their harvest value.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Connectivity &amp; Literacy Barriers: Complex graphical forms alienate non-English and vernacular speakers.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2. Farmer Pain Point: The Execution Chasm</a:t>
            </a:r>
          </a:p>
          <a:p>
            <a:pPr>
              <a:spcBef>
                <a:spcPts val="400"/>
              </a:spcBef>
              <a:defRPr sz="1400">
                <a:solidFill>
                  <a:srgbClr val="B4C3B9"/>
                </a:solidFill>
                <a:latin typeface="Arial"/>
              </a:defRPr>
            </a:pPr>
            <a:r>
              <a:t>Advice without safe execution creates risk, not value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728655" cy="4297680"/>
          </a:xfrm>
          <a:prstGeom prst="roundRect">
            <a:avLst/>
          </a:prstGeom>
          <a:solidFill>
            <a:srgbClr val="183024"/>
          </a:solidFill>
          <a:ln w="19050">
            <a:solidFill>
              <a:srgbClr val="275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1018001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"I know my crop is sick, but is it safe to spray today?"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"If rain starts in 3 hours, will my expensive chemical spray be wasted or harm soil ecology?"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"Can I trust a computer vision diagnosis when leaves have overlapping symptoms?"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"How do I track what tasks my farm labor must execute step-by-step?"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AgriBridge bridges the gap between passive diagnosis and guaranteed safe field execution.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3. The AgriBridge Solution: Closed-Loop Platform</a:t>
            </a:r>
          </a:p>
          <a:p>
            <a:pPr>
              <a:spcBef>
                <a:spcPts val="400"/>
              </a:spcBef>
              <a:defRPr sz="1400">
                <a:solidFill>
                  <a:srgbClr val="B4C3B9"/>
                </a:solidFill>
                <a:latin typeface="Arial"/>
              </a:defRPr>
            </a:pPr>
            <a:r>
              <a:t>From raw visual/sensor signals to deterministic farm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728655" cy="4297680"/>
          </a:xfrm>
          <a:prstGeom prst="roundRect">
            <a:avLst/>
          </a:prstGeom>
          <a:solidFill>
            <a:srgbClr val="183024"/>
          </a:solidFill>
          <a:ln w="19050">
            <a:solidFill>
              <a:srgbClr val="275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1018001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Multi-Signal Ingestion: Leaf imagery, soil telemetry (N-P-K, pH, Moisture), growth stages, and IMD/GFS weather.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Autonomous Provenance Engine: Distinguishes LIVE authenticated signals from SIMULATED test feeds.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Deterministic MultiSignalPolicyEngine: Sole decision authority — AI recommends, deterministic rules decide.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4-State PlanTask Lifecycle: PENDING -&gt; ACKNOWLEDGED -&gt; IN_PROGRESS -&gt; COMPLETED with full audit trail.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Kisan Saathi Voice Companion: 14 Indian languages + Hinglish for 100% accessible conversational interface.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4. Key Feature Matrix</a:t>
            </a:r>
          </a:p>
          <a:p>
            <a:pPr>
              <a:spcBef>
                <a:spcPts val="400"/>
              </a:spcBef>
              <a:defRPr sz="1400">
                <a:solidFill>
                  <a:srgbClr val="B4C3B9"/>
                </a:solidFill>
                <a:latin typeface="Arial"/>
              </a:defRPr>
            </a:pPr>
            <a:r>
              <a:t>End-to-end capabilities across the agricultural value chain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728655" cy="4297680"/>
          </a:xfrm>
          <a:prstGeom prst="roundRect">
            <a:avLst/>
          </a:prstGeom>
          <a:solidFill>
            <a:srgbClr val="183024"/>
          </a:solidFill>
          <a:ln w="19050">
            <a:solidFill>
              <a:srgbClr val="275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1018001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Computer Vision Diagnostics: Custom EfficientNet-B0 + ResNet architectures trained on 38+ plant disease classes.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Pre-Execution Weather Gating: Hard safety lock delaying sprays when Rain &gt; 60% or Wind &gt; 20 km/h.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Human-in-the-Loop Escalation: Automatic handoff to Krishi Vigyan Kendra (KVK) agents when AI confidence &lt; 65%.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Scientific ICAR Package of Practices: Grounded crop stage calendars (CRI, Tillering, Heading, Milking, Ripening).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FPO &amp; Direct Bidding Marketplace: Transparent bids above MSP with batch traceability certificates.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5. System Architecture: 5-Layer Autonomous Pipeline</a:t>
            </a:r>
          </a:p>
          <a:p>
            <a:pPr>
              <a:spcBef>
                <a:spcPts val="400"/>
              </a:spcBef>
              <a:defRPr sz="1400">
                <a:solidFill>
                  <a:srgbClr val="B4C3B9"/>
                </a:solidFill>
                <a:latin typeface="Arial"/>
              </a:defRPr>
            </a:pPr>
            <a:r>
              <a:t>Resilient, modular, and cloud-edge decoupled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728655" cy="4297680"/>
          </a:xfrm>
          <a:prstGeom prst="roundRect">
            <a:avLst/>
          </a:prstGeom>
          <a:solidFill>
            <a:srgbClr val="183024"/>
          </a:solidFill>
          <a:ln w="19050">
            <a:solidFill>
              <a:srgbClr val="275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1018001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Layer 1: Signal Ingestion (Vision Uploads, Soil IoT Telemetry, Weather Forecast API, Voice Audio).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Layer 2: Quality &amp; Provenance (E.164 Identity, Sensor Drift Detection, Signal Trust Scoring).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Layer 3: Multi-Signal Policy Engine (ICAR Rule Fusion, Weather Gating, Disease Thresholding).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Layer 4: Action Orchestration (ActionPlan Generator, 4-State Task Tracker, Dynamic Recheck Scheduler).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Layer 5: Presentation &amp; Voice (Farmer UI, Field Agent Portal, Buyer Marketplace, Kisan Saathi).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6. Autonomous Decision Loop: MultiSignalPolicyEngine</a:t>
            </a:r>
          </a:p>
          <a:p>
            <a:pPr>
              <a:spcBef>
                <a:spcPts val="400"/>
              </a:spcBef>
              <a:defRPr sz="1400">
                <a:solidFill>
                  <a:srgbClr val="B4C3B9"/>
                </a:solidFill>
                <a:latin typeface="Arial"/>
              </a:defRPr>
            </a:pPr>
            <a:r>
              <a:t>Deterministic safety as the sole decision authority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728655" cy="4297680"/>
          </a:xfrm>
          <a:prstGeom prst="roundRect">
            <a:avLst/>
          </a:prstGeom>
          <a:solidFill>
            <a:srgbClr val="183024"/>
          </a:solidFill>
          <a:ln w="19050">
            <a:solidFill>
              <a:srgbClr val="275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1018001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Multi-Signal Policy Engine acts as the strict cryptographic &amp; agronomic gatekeeper.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Four Exclusive Policy Decisions:</a:t>
            </a:r>
          </a:p>
          <a:p>
            <a:pPr lvl="1">
              <a:spcAft>
                <a:spcPts val="1200"/>
              </a:spcAft>
              <a:defRPr sz="1400">
                <a:solidFill>
                  <a:srgbClr val="B4C3B9"/>
                </a:solidFill>
                <a:latin typeface="Arial"/>
              </a:defRPr>
            </a:pPr>
            <a:r>
              <a:t>  • ALLOWED: All signals valid, confidence &gt;= 65%, weather safe -&gt; Generates executable PlanTask.</a:t>
            </a:r>
          </a:p>
          <a:p>
            <a:pPr lvl="1">
              <a:spcAft>
                <a:spcPts val="1200"/>
              </a:spcAft>
              <a:defRPr sz="1400">
                <a:solidFill>
                  <a:srgbClr val="B4C3B9"/>
                </a:solidFill>
                <a:latin typeface="Arial"/>
              </a:defRPr>
            </a:pPr>
            <a:r>
              <a:t>  • DEFERRED: Disease valid but weather unsafe (Rain &gt; 60% or Wind &gt; 20 km/h) -&gt; Zero unsafe tasks, auto-recheck.</a:t>
            </a:r>
          </a:p>
          <a:p>
            <a:pPr lvl="1">
              <a:spcAft>
                <a:spcPts val="1200"/>
              </a:spcAft>
              <a:defRPr sz="1400">
                <a:solidFill>
                  <a:srgbClr val="B4C3B9"/>
                </a:solidFill>
                <a:latin typeface="Arial"/>
              </a:defRPr>
            </a:pPr>
            <a:r>
              <a:t>  • BLOCKED: Invalid agronomic combination or sensor failure -&gt; Zero tasks, safety alert issued.</a:t>
            </a:r>
          </a:p>
          <a:p>
            <a:pPr lvl="1">
              <a:spcAft>
                <a:spcPts val="1200"/>
              </a:spcAft>
              <a:defRPr sz="1400">
                <a:solidFill>
                  <a:srgbClr val="B4C3B9"/>
                </a:solidFill>
                <a:latin typeface="Arial"/>
              </a:defRPr>
            </a:pPr>
            <a:r>
              <a:t>  • REQUIRES_HUMAN_REVIEW: Borderline confidence (&lt; 65%) -&gt; Field agent escalation ticket created.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7. AI/ML + Deterministic Safety Fusion</a:t>
            </a:r>
          </a:p>
          <a:p>
            <a:pPr>
              <a:spcBef>
                <a:spcPts val="400"/>
              </a:spcBef>
              <a:defRPr sz="1400">
                <a:solidFill>
                  <a:srgbClr val="B4C3B9"/>
                </a:solidFill>
                <a:latin typeface="Arial"/>
              </a:defRPr>
            </a:pPr>
            <a:r>
              <a:t>Combining statistical AI flexibility with deterministic engineering guarantees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728655" cy="4297680"/>
          </a:xfrm>
          <a:prstGeom prst="roundRect">
            <a:avLst/>
          </a:prstGeom>
          <a:solidFill>
            <a:srgbClr val="183024"/>
          </a:solidFill>
          <a:ln w="19050">
            <a:solidFill>
              <a:srgbClr val="275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1018001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Core Architectural Rule: AI and LLMs are strictly ADVISORY; they CANNOT create executable field tasks.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Zero-Hallucination Kisan Saathi: LLM responses are constrained to ICAR agronomic reference templates.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Confidence Isolation: Vision probabilities are bounded and calibrated before passing to the policy engine.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No Autonomous Override: Human agent verification updates context and triggers deterministic re-evaluation.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8. Crop Diagnostics &amp; Disease Inference</a:t>
            </a:r>
          </a:p>
          <a:p>
            <a:pPr>
              <a:spcBef>
                <a:spcPts val="400"/>
              </a:spcBef>
              <a:defRPr sz="1400">
                <a:solidFill>
                  <a:srgbClr val="B4C3B9"/>
                </a:solidFill>
                <a:latin typeface="Arial"/>
              </a:defRPr>
            </a:pPr>
            <a:r>
              <a:t>Robust deep learning visual diagnostics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728655" cy="4297680"/>
          </a:xfrm>
          <a:prstGeom prst="roundRect">
            <a:avLst/>
          </a:prstGeom>
          <a:solidFill>
            <a:srgbClr val="183024"/>
          </a:solidFill>
          <a:ln w="19050">
            <a:solidFill>
              <a:srgbClr val="275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1018001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Deep Learning Pipeline: EfficientNet-B0 + ResNet50 backbone with calibrated softmax confidence.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Comprehensive Crop Coverage: Wheat (Rust, Blight), Tomato (Early/Late Blight, Yellow Leaf Curl), Rice, Maize, Potato.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Dynamic Fallback &amp; Mocking: Graceful degradation to ICAR heuristics if GPU/TensorFlow is unavailable.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Signal Trust Scoring: Image resolution, blur detection, and timestamp validity checks.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9. Dynamic Weather Adaptation &amp; Safe Deferral</a:t>
            </a:r>
          </a:p>
          <a:p>
            <a:pPr>
              <a:spcBef>
                <a:spcPts val="400"/>
              </a:spcBef>
              <a:defRPr sz="1400">
                <a:solidFill>
                  <a:srgbClr val="B4C3B9"/>
                </a:solidFill>
                <a:latin typeface="Arial"/>
              </a:defRPr>
            </a:pPr>
            <a:r>
              <a:t>Zero agrochemical loss through automated meteorology integration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728655" cy="4297680"/>
          </a:xfrm>
          <a:prstGeom prst="roundRect">
            <a:avLst/>
          </a:prstGeom>
          <a:solidFill>
            <a:srgbClr val="183024"/>
          </a:solidFill>
          <a:ln w="19050">
            <a:solidFill>
              <a:srgbClr val="275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1018001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Real-Time Weather Integration: 15-day dynamic forecast via IMD / Open-Meteo API.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Pre-Execution Gating: Evaluates precipitation probability, wind velocity, and ambient humidity.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Automatic Rescheduling: Deferrals trigger a non-blocking background recheck timer for safe weather windows.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Farmer Visibility: The UI displays exact weather constraints (e.g. "Spray deferred: 75% rain expected in 2h").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10. Human-in-the-Loop (HITL) Field Escalation</a:t>
            </a:r>
          </a:p>
          <a:p>
            <a:pPr>
              <a:spcBef>
                <a:spcPts val="400"/>
              </a:spcBef>
              <a:defRPr sz="1400">
                <a:solidFill>
                  <a:srgbClr val="B4C3B9"/>
                </a:solidFill>
                <a:latin typeface="Arial"/>
              </a:defRPr>
            </a:pPr>
            <a:r>
              <a:t>Protecting farmers from catastrophic edge cases and false positives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728655" cy="4297680"/>
          </a:xfrm>
          <a:prstGeom prst="roundRect">
            <a:avLst/>
          </a:prstGeom>
          <a:solidFill>
            <a:srgbClr val="183024"/>
          </a:solidFill>
          <a:ln w="19050">
            <a:solidFill>
              <a:srgbClr val="275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1018001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Automated Escalation: Vision AI confidence &lt; 65% triggers an escalation ticket for Field Agents / KVK officers.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Prescription Lock: Farmer dashboard shows "Escalated for Officer Review"; chemical application remains locked.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Field Agent Portal: Officer inspects high-res imagery, reviews farm history, and submits expert verification.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Context Rebuild &amp; Re-Evaluation: Officer verification updates context and re-triggers policy evaluation cleanly.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11. Farmer-First UI &amp; Vernacular Experience</a:t>
            </a:r>
          </a:p>
          <a:p>
            <a:pPr>
              <a:spcBef>
                <a:spcPts val="400"/>
              </a:spcBef>
              <a:defRPr sz="1400">
                <a:solidFill>
                  <a:srgbClr val="B4C3B9"/>
                </a:solidFill>
                <a:latin typeface="Arial"/>
              </a:defRPr>
            </a:pPr>
            <a:r>
              <a:t>Designed for maximum readability and instant cognitive clarity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728655" cy="4297680"/>
          </a:xfrm>
          <a:prstGeom prst="roundRect">
            <a:avLst/>
          </a:prstGeom>
          <a:solidFill>
            <a:srgbClr val="183024"/>
          </a:solidFill>
          <a:ln w="19050">
            <a:solidFill>
              <a:srgbClr val="275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1018001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Glanceable Primary Card: Farm/Crop, Health Status, Confidence %, Decision State, and Task Progress.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Clean Decision Badges: Green (ALLOWED), Orange (DEFERRED - Weather), Yellow (UNDER REVIEW), Red (BLOCKED).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Single-Tap Task Acknowledgment: Clear progression from Pending -&gt; Acknowledged -&gt; In Progress -&gt; Completed.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Deep Traceability: Secondary modal provides telemetry logs, policy reasoning, and audit timestamps.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12. Kisan Saathi: Multilingual Voice Assistant</a:t>
            </a:r>
          </a:p>
          <a:p>
            <a:pPr>
              <a:spcBef>
                <a:spcPts val="400"/>
              </a:spcBef>
              <a:defRPr sz="1400">
                <a:solidFill>
                  <a:srgbClr val="B4C3B9"/>
                </a:solidFill>
                <a:latin typeface="Arial"/>
              </a:defRPr>
            </a:pPr>
            <a:r>
              <a:t>Natural voice interaction for 100% digital accessibility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728655" cy="4297680"/>
          </a:xfrm>
          <a:prstGeom prst="roundRect">
            <a:avLst/>
          </a:prstGeom>
          <a:solidFill>
            <a:srgbClr val="183024"/>
          </a:solidFill>
          <a:ln w="19050">
            <a:solidFill>
              <a:srgbClr val="275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1018001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14 Indian Languages: Hindi, Punjabi, Marathi, Bengali, Telugu, Tamil, Gujarati, Kannada, Odia, and Hinglish.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Context-Aware UI Navigation: Voice commands navigate pages (e.g., "Mera khet dikhao", "Marketplace kholo").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Multilingual Speech-to-Text &amp; Text-to-Speech: Web Speech API + Gemini Multilingual STT + gTTS synthesis.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Strict Scope Boundary: Deflects non-agricultural queries politely to maintain zero-hallucination integrity.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13. End-to-End Judge Validation Scenarios (A to J)</a:t>
            </a:r>
          </a:p>
          <a:p>
            <a:pPr>
              <a:spcBef>
                <a:spcPts val="400"/>
              </a:spcBef>
              <a:defRPr sz="1400">
                <a:solidFill>
                  <a:srgbClr val="B4C3B9"/>
                </a:solidFill>
                <a:latin typeface="Arial"/>
              </a:defRPr>
            </a:pPr>
            <a:r>
              <a:t>100% verified across 10 mission-critical operational conditions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728655" cy="4297680"/>
          </a:xfrm>
          <a:prstGeom prst="roundRect">
            <a:avLst/>
          </a:prstGeom>
          <a:solidFill>
            <a:srgbClr val="183024"/>
          </a:solidFill>
          <a:ln w="19050">
            <a:solidFill>
              <a:srgbClr val="275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1018001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Scenario A (Safe/Allowed): High confidence + clear weather -&gt; ALLOWED -&gt; 1 Executable Task.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Scenario B (Rain/Deferred): Valid disease + 80% rain -&gt; DEFERRED -&gt; Zero unsafe tasks -&gt; Auto-recheck scheduled.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Scenario C (High Wind): Valid disease + 28 km/h wind -&gt; DEFERRED -&gt; Safe application window tracked.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Scenario D (Borderline Review): 58% confidence -&gt; REQUIRES_HUMAN_REVIEW -&gt; Ticket created in Agent Portal.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Scenario E (Agent Verification): Officer verifies Leaf Rust -&gt; Context rebuilt -&gt; Re-evaluated -&gt; ALLOWED.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Scenario F to J: Blocked invalid combos, simulated data tags, weather clearing recheck, and safe network fallbacks.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14. Engineering Rigor, Testing &amp; Reliability</a:t>
            </a:r>
          </a:p>
          <a:p>
            <a:pPr>
              <a:spcBef>
                <a:spcPts val="400"/>
              </a:spcBef>
              <a:defRPr sz="1400">
                <a:solidFill>
                  <a:srgbClr val="B4C3B9"/>
                </a:solidFill>
                <a:latin typeface="Arial"/>
              </a:defRPr>
            </a:pPr>
            <a:r>
              <a:t>Production-grade automated test coverage and zero flaky tests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728655" cy="4297680"/>
          </a:xfrm>
          <a:prstGeom prst="roundRect">
            <a:avLst/>
          </a:prstGeom>
          <a:solidFill>
            <a:srgbClr val="183024"/>
          </a:solidFill>
          <a:ln w="19050">
            <a:solidFill>
              <a:srgbClr val="275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1018001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Automated Test Suite: 270 Tests Total (156 Unit Tests + 114 Integration Tests).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Test Pass Rate: 270 Passed / 0 Failed / 0 Errors (100% Green in ~80 seconds).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Role-Based Access Control: Strict JWT isolation across Farmer, Field Agent, Buyer, and Admin roles.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Database Agnostic: Active MySQL support with seamless SQLite automatic fallback.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15. Core Innovation &amp; Competitive Advantages</a:t>
            </a:r>
          </a:p>
          <a:p>
            <a:pPr>
              <a:spcBef>
                <a:spcPts val="400"/>
              </a:spcBef>
              <a:defRPr sz="1400">
                <a:solidFill>
                  <a:srgbClr val="B4C3B9"/>
                </a:solidFill>
                <a:latin typeface="Arial"/>
              </a:defRPr>
            </a:pPr>
            <a:r>
              <a:t>How AgriBridge stands out against existing agritech offerings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728655" cy="4297680"/>
          </a:xfrm>
          <a:prstGeom prst="roundRect">
            <a:avLst/>
          </a:prstGeom>
          <a:solidFill>
            <a:srgbClr val="183024"/>
          </a:solidFill>
          <a:ln w="19050">
            <a:solidFill>
              <a:srgbClr val="275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1018001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Autonomous Closed-Loop vs. Advisory Only: Does not stop at diagnosis; manages physical execution lifecycles.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Deterministic Safety Engine: Eliminates LLM and vision model hallucination risks in agrochemical dosing.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Multi-Signal Coherence: Simultaneously evaluates soil chemistry, crop phenology, and atmospheric forecast.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Zero-Hardware Barrier: Works with standard smartphones, basic camera inputs, and voice.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16. Limitations &amp; Future Development Roadmap</a:t>
            </a:r>
          </a:p>
          <a:p>
            <a:pPr>
              <a:spcBef>
                <a:spcPts val="400"/>
              </a:spcBef>
              <a:defRPr sz="1400">
                <a:solidFill>
                  <a:srgbClr val="B4C3B9"/>
                </a:solidFill>
                <a:latin typeface="Arial"/>
              </a:defRPr>
            </a:pPr>
            <a:r>
              <a:t>Honest current scope and clear production scaling path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728655" cy="4297680"/>
          </a:xfrm>
          <a:prstGeom prst="roundRect">
            <a:avLst/>
          </a:prstGeom>
          <a:solidFill>
            <a:srgbClr val="183024"/>
          </a:solidFill>
          <a:ln w="19050">
            <a:solidFill>
              <a:srgbClr val="275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1018001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Current Scope: Tested on Wheat, Tomato, Rice, Maize, Potato; Simulated IoT telemetry for hackathon demo.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Hardware Integration: Direct LoRaWAN / NB-IoT soil sensor probe plug-ins in Phase 6.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Satellite Earth Observation: Sentinel-2 NDVI spectral vegetation indexing for field-scale biomass mapping.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FPO Aggregation: Smart contract escrow payments and cooperative bulk purchasing discounts.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17. Conclusion &amp; Submission Summary</a:t>
            </a:r>
          </a:p>
          <a:p>
            <a:pPr>
              <a:spcBef>
                <a:spcPts val="400"/>
              </a:spcBef>
              <a:defRPr sz="1400">
                <a:solidFill>
                  <a:srgbClr val="B4C3B9"/>
                </a:solidFill>
                <a:latin typeface="Arial"/>
              </a:defRPr>
            </a:pPr>
            <a:r>
              <a:t>AgriBridge — Autonomous Farm-to-Field Advisory &amp; Action Orchestration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728655" cy="4297680"/>
          </a:xfrm>
          <a:prstGeom prst="roundRect">
            <a:avLst/>
          </a:prstGeom>
          <a:solidFill>
            <a:srgbClr val="183024"/>
          </a:solidFill>
          <a:ln w="19050">
            <a:solidFill>
              <a:srgbClr val="275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1018001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Complete end-to-end working platform ready for immediate judge evaluation.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270/270 automated tests passing with zero failures.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Comprehensive documentation, architecture diagrams, and verified demo seed data.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Thank You! Questions &amp; Live Demonstration.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